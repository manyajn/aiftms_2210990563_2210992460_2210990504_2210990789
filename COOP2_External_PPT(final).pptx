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68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44B049-333F-4AE2-8F12-E287C8379142}">
          <p14:sldIdLst>
            <p14:sldId id="256"/>
            <p14:sldId id="257"/>
            <p14:sldId id="269"/>
            <p14:sldId id="270"/>
            <p14:sldId id="271"/>
            <p14:sldId id="272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3200" dirty="0"/>
              <a:t>AI-Integrated Finance Transformation for Mid-Sized Companies</a:t>
            </a: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&lt;Manya Jain , Keshav Goel, Teesta Arora , Saniya Singla&gt;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&lt;2210990563,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2210990504, 2210992460, 2210990789&gt;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&lt;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D.R Shyam Goel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&gt;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IN" sz="2000" b="1" dirty="0"/>
              <a:t>Digital Finance Transformation in Mid-Sized Enterprises</a:t>
            </a:r>
            <a:endParaRPr lang="en-IN" sz="20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/>
              <a:t>Mid-sized companies face </a:t>
            </a:r>
            <a:r>
              <a:rPr lang="en-US" b="1" dirty="0"/>
              <a:t>growing financial complexity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b="1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/>
              <a:t>Limited access to </a:t>
            </a:r>
            <a:r>
              <a:rPr lang="en-US" b="1" dirty="0"/>
              <a:t>advanced AI &amp; IT infrastructure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b="1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dirty="0"/>
              <a:t>Increasing need for: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dirty="0"/>
              <a:t>Real-time insights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dirty="0"/>
              <a:t>Automation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dirty="0"/>
              <a:t>Data-driven decisions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b="1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/>
              <a:t>Existing solutions are </a:t>
            </a:r>
            <a:r>
              <a:rPr lang="en-US" b="1" dirty="0"/>
              <a:t>fragmented or designed for large firms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b="1" dirty="0"/>
          </a:p>
          <a:p>
            <a:endParaRPr lang="en-US" b="1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b="1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B63C-B289-95A9-21D1-8300EFD5E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Problem Statement &amp;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AAFDF-4DEC-FEC2-8457-EFBAC594F4D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01658" y="1696825"/>
            <a:ext cx="8384782" cy="3884975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sz="1900" b="1" dirty="0"/>
              <a:t>Problem Statement</a:t>
            </a:r>
          </a:p>
          <a:p>
            <a:r>
              <a:rPr lang="en-IN" sz="1900" dirty="0"/>
              <a:t>Manual financial processes → </a:t>
            </a:r>
            <a:r>
              <a:rPr lang="en-IN" sz="1900" b="1" dirty="0"/>
              <a:t>slow, error-prone</a:t>
            </a:r>
          </a:p>
          <a:p>
            <a:r>
              <a:rPr lang="en-US" sz="1900" dirty="0"/>
              <a:t>Disconnected systems (ERP, banking, reporting)</a:t>
            </a:r>
            <a:endParaRPr lang="en-IN" sz="1900" dirty="0"/>
          </a:p>
          <a:p>
            <a:r>
              <a:rPr lang="en-US" sz="1900" dirty="0"/>
              <a:t>Lack of </a:t>
            </a:r>
            <a:r>
              <a:rPr lang="en-US" sz="1900" b="1" dirty="0"/>
              <a:t>scalable AI adoption strategy</a:t>
            </a:r>
          </a:p>
          <a:p>
            <a:endParaRPr lang="en-US" sz="1900" b="1" dirty="0"/>
          </a:p>
          <a:p>
            <a:r>
              <a:rPr lang="en-US" sz="1900" b="1" dirty="0"/>
              <a:t>Objective</a:t>
            </a:r>
            <a:endParaRPr lang="en-US" sz="1900" dirty="0"/>
          </a:p>
          <a:p>
            <a:r>
              <a:rPr lang="en-US" sz="1900" dirty="0"/>
              <a:t>Develop a </a:t>
            </a:r>
            <a:r>
              <a:rPr lang="en-US" sz="1900" b="1" dirty="0"/>
              <a:t>unified framework</a:t>
            </a:r>
            <a:r>
              <a:rPr lang="en-US" sz="1900" dirty="0"/>
              <a:t> for finance transformation </a:t>
            </a:r>
          </a:p>
          <a:p>
            <a:r>
              <a:rPr lang="en-US" sz="1900" dirty="0"/>
              <a:t>Integrate: </a:t>
            </a:r>
          </a:p>
          <a:p>
            <a:pPr lvl="1"/>
            <a:r>
              <a:rPr lang="en-US" sz="1900" dirty="0"/>
              <a:t>AI / ML</a:t>
            </a:r>
          </a:p>
          <a:p>
            <a:pPr lvl="1"/>
            <a:r>
              <a:rPr lang="en-US" sz="1900" dirty="0"/>
              <a:t>Data Engineering </a:t>
            </a:r>
          </a:p>
          <a:p>
            <a:pPr lvl="1"/>
            <a:r>
              <a:rPr lang="en-US" sz="1900" dirty="0"/>
              <a:t>Automation </a:t>
            </a:r>
          </a:p>
          <a:p>
            <a:pPr lvl="1"/>
            <a:r>
              <a:rPr lang="en-US" sz="1900" dirty="0"/>
              <a:t>Cloud DevOps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91052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82E2-E0B8-D38F-DC4A-B47205B99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AIFT-MS Framework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3B2C2-DDF3-C4AC-1121-36172B99747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9728" y="914040"/>
            <a:ext cx="8229240" cy="3977280"/>
          </a:xfrm>
        </p:spPr>
        <p:txBody>
          <a:bodyPr/>
          <a:lstStyle/>
          <a:p>
            <a:r>
              <a:rPr lang="en-IN" sz="2000" b="1" dirty="0"/>
              <a:t>AIFT-MS = 5-Tier AI Finance Architecture</a:t>
            </a:r>
            <a:endParaRPr lang="en-IN" sz="2000" dirty="0"/>
          </a:p>
          <a:p>
            <a:r>
              <a:rPr lang="en-IN" sz="2000" b="1" dirty="0"/>
              <a:t>Tier 1:</a:t>
            </a:r>
            <a:r>
              <a:rPr lang="en-IN" sz="2000" dirty="0"/>
              <a:t> Data Ingestion &amp; Governance </a:t>
            </a:r>
          </a:p>
          <a:p>
            <a:r>
              <a:rPr lang="en-IN" sz="2000" b="1" dirty="0"/>
              <a:t>Tier 2:</a:t>
            </a:r>
            <a:r>
              <a:rPr lang="en-IN" sz="2000" dirty="0"/>
              <a:t> Integration &amp; Real-Time Streaming </a:t>
            </a:r>
          </a:p>
          <a:p>
            <a:r>
              <a:rPr lang="en-IN" sz="2000" b="1" dirty="0"/>
              <a:t>Tier 3:</a:t>
            </a:r>
            <a:r>
              <a:rPr lang="en-IN" sz="2000" dirty="0"/>
              <a:t> AI/ML Engine </a:t>
            </a:r>
          </a:p>
          <a:p>
            <a:r>
              <a:rPr lang="en-IN" sz="2000" b="1" dirty="0"/>
              <a:t>Tier 4:</a:t>
            </a:r>
            <a:r>
              <a:rPr lang="en-IN" sz="2000" dirty="0"/>
              <a:t> Automation &amp; Orchestration </a:t>
            </a:r>
          </a:p>
          <a:p>
            <a:r>
              <a:rPr lang="en-IN" sz="2000" b="1" dirty="0"/>
              <a:t>Tier 5:</a:t>
            </a:r>
            <a:r>
              <a:rPr lang="en-IN" sz="2000" dirty="0"/>
              <a:t> Intelligence UX (Dashboards &amp; Insights)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4874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A28F6-2AF3-EF54-D70F-F3C33DDC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Architecture &amp; Data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77073-7FF0-077B-6BFE-9DF28FB16CC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97406" y="1367088"/>
            <a:ext cx="8229240" cy="3526757"/>
          </a:xfrm>
        </p:spPr>
        <p:txBody>
          <a:bodyPr/>
          <a:lstStyle/>
          <a:p>
            <a:r>
              <a:rPr lang="en-IN" sz="2000" b="1" dirty="0"/>
              <a:t>FinOps-CD (Cloud DevOps)</a:t>
            </a:r>
            <a:endParaRPr lang="en-IN" sz="2000" dirty="0"/>
          </a:p>
          <a:p>
            <a:r>
              <a:rPr lang="en-IN" sz="2000" dirty="0"/>
              <a:t>CI/CD pipelines </a:t>
            </a:r>
          </a:p>
          <a:p>
            <a:r>
              <a:rPr lang="en-IN" sz="2000" dirty="0"/>
              <a:t>Docker &amp; Kubernetes deployment </a:t>
            </a:r>
          </a:p>
          <a:p>
            <a:r>
              <a:rPr lang="en-IN" sz="2000" dirty="0"/>
              <a:t>Automated testing &amp; rollback </a:t>
            </a:r>
          </a:p>
          <a:p>
            <a:r>
              <a:rPr lang="en-IN" sz="2000" b="1" dirty="0"/>
              <a:t>RT-FDE Pipeline</a:t>
            </a:r>
            <a:endParaRPr lang="en-IN" sz="2000" dirty="0"/>
          </a:p>
          <a:p>
            <a:r>
              <a:rPr lang="en-IN" sz="2000" dirty="0"/>
              <a:t>Real-time + batch processing </a:t>
            </a:r>
          </a:p>
          <a:p>
            <a:r>
              <a:rPr lang="en-IN" sz="2000" dirty="0"/>
              <a:t>Tools: Kafka, Spark </a:t>
            </a:r>
          </a:p>
          <a:p>
            <a:r>
              <a:rPr lang="en-IN" sz="2000" dirty="0"/>
              <a:t>Ensures </a:t>
            </a:r>
            <a:r>
              <a:rPr lang="en-IN" sz="2000" b="1" dirty="0"/>
              <a:t>high-quality, ML-ready data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159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630F-176E-131F-6032-49B7B083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Conclusion &amp;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CE293-71E6-61A5-F9A4-9AE8E08F083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82157" y="1750751"/>
            <a:ext cx="8912682" cy="3573889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Provides </a:t>
            </a:r>
            <a:r>
              <a:rPr lang="en-US" sz="2200" b="1" dirty="0"/>
              <a:t>structured AI adoption roadmap</a:t>
            </a:r>
            <a:r>
              <a:rPr lang="en-US" sz="2200" dirty="0"/>
              <a:t> </a:t>
            </a:r>
          </a:p>
          <a:p>
            <a:r>
              <a:rPr lang="en-US" sz="2200" dirty="0"/>
              <a:t>Improves: </a:t>
            </a:r>
          </a:p>
          <a:p>
            <a:pPr lvl="1"/>
            <a:r>
              <a:rPr lang="en-US" sz="2200" dirty="0"/>
              <a:t>Efficiency </a:t>
            </a:r>
          </a:p>
          <a:p>
            <a:pPr lvl="1"/>
            <a:r>
              <a:rPr lang="en-US" sz="2200" dirty="0"/>
              <a:t>Accuracy </a:t>
            </a:r>
          </a:p>
          <a:p>
            <a:pPr lvl="1"/>
            <a:r>
              <a:rPr lang="en-US" sz="2200" dirty="0"/>
              <a:t>Decision-making speed </a:t>
            </a:r>
          </a:p>
          <a:p>
            <a:endParaRPr lang="en-US" sz="2200" dirty="0"/>
          </a:p>
          <a:p>
            <a:r>
              <a:rPr lang="en-US" sz="2200" dirty="0"/>
              <a:t>Focus on:</a:t>
            </a:r>
          </a:p>
          <a:p>
            <a:pPr marL="0" indent="0">
              <a:buNone/>
            </a:pPr>
            <a:r>
              <a:rPr lang="en-US" sz="2200" b="1" dirty="0"/>
              <a:t>    Data → Automation → AI → Insights</a:t>
            </a:r>
            <a:r>
              <a:rPr lang="en-US" sz="2200" dirty="0"/>
              <a:t> 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b="1" dirty="0"/>
              <a:t>Future Scope</a:t>
            </a:r>
            <a:endParaRPr lang="en-US" sz="2200" dirty="0"/>
          </a:p>
          <a:p>
            <a:r>
              <a:rPr lang="en-US" sz="2200" dirty="0"/>
              <a:t>Real-world implementation </a:t>
            </a:r>
          </a:p>
          <a:p>
            <a:r>
              <a:rPr lang="en-US" sz="2200" dirty="0"/>
              <a:t>Expansion into Generative AI use cases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906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34739</TotalTime>
  <Words>287</Words>
  <Application>Microsoft Office PowerPoint</Application>
  <PresentationFormat>On-screen Show (4:3)</PresentationFormat>
  <Paragraphs>86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 &amp; Objective</vt:lpstr>
      <vt:lpstr>AIFT-MS Framework Overview</vt:lpstr>
      <vt:lpstr>Architecture &amp; Data Pipeline</vt:lpstr>
      <vt:lpstr>Conclusion &amp; Impact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saniya singla</cp:lastModifiedBy>
  <cp:revision>2302</cp:revision>
  <dcterms:created xsi:type="dcterms:W3CDTF">2010-04-09T07:36:15Z</dcterms:created>
  <dcterms:modified xsi:type="dcterms:W3CDTF">2026-05-01T10:17:44Z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